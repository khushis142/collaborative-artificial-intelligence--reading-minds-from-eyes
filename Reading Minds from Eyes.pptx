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Public Sans"/>
      <p:regular r:id="rId27"/>
      <p:bold r:id="rId28"/>
      <p:italic r:id="rId29"/>
      <p:boldItalic r:id="rId30"/>
    </p:embeddedFont>
    <p:embeddedFont>
      <p:font typeface="Merriweather"/>
      <p:regular r:id="rId31"/>
      <p:bold r:id="rId32"/>
      <p:italic r:id="rId33"/>
      <p:boldItalic r:id="rId34"/>
    </p:embeddedFont>
    <p:embeddedFont>
      <p:font typeface="Public Sans Light"/>
      <p:regular r:id="rId35"/>
      <p:bold r:id="rId36"/>
      <p:italic r:id="rId37"/>
      <p:boldItalic r:id="rId38"/>
    </p:embeddedFont>
    <p:embeddedFont>
      <p:font typeface="Public Sans SemiBold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A62DEC4-B1E1-4948-97E9-58EC25A0520B}">
  <a:tblStyle styleId="{4A62DEC4-B1E1-4948-97E9-58EC25A0520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ublicSansSemiBold-bold.fntdata"/><Relationship Id="rId20" Type="http://schemas.openxmlformats.org/officeDocument/2006/relationships/slide" Target="slides/slide14.xml"/><Relationship Id="rId42" Type="http://schemas.openxmlformats.org/officeDocument/2006/relationships/font" Target="fonts/PublicSansSemiBold-boldItalic.fntdata"/><Relationship Id="rId41" Type="http://schemas.openxmlformats.org/officeDocument/2006/relationships/font" Target="fonts/PublicSansSemiBold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ublicSans-bold.fntdata"/><Relationship Id="rId27" Type="http://schemas.openxmlformats.org/officeDocument/2006/relationships/font" Target="fonts/PublicSa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ublic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erriweather-regular.fntdata"/><Relationship Id="rId30" Type="http://schemas.openxmlformats.org/officeDocument/2006/relationships/font" Target="fonts/PublicSans-boldItalic.fntdata"/><Relationship Id="rId11" Type="http://schemas.openxmlformats.org/officeDocument/2006/relationships/slide" Target="slides/slide5.xml"/><Relationship Id="rId33" Type="http://schemas.openxmlformats.org/officeDocument/2006/relationships/font" Target="fonts/Merriweather-italic.fntdata"/><Relationship Id="rId10" Type="http://schemas.openxmlformats.org/officeDocument/2006/relationships/slide" Target="slides/slide4.xml"/><Relationship Id="rId32" Type="http://schemas.openxmlformats.org/officeDocument/2006/relationships/font" Target="fonts/Merriweather-bold.fntdata"/><Relationship Id="rId13" Type="http://schemas.openxmlformats.org/officeDocument/2006/relationships/slide" Target="slides/slide7.xml"/><Relationship Id="rId35" Type="http://schemas.openxmlformats.org/officeDocument/2006/relationships/font" Target="fonts/PublicSansLight-regular.fntdata"/><Relationship Id="rId12" Type="http://schemas.openxmlformats.org/officeDocument/2006/relationships/slide" Target="slides/slide6.xml"/><Relationship Id="rId34" Type="http://schemas.openxmlformats.org/officeDocument/2006/relationships/font" Target="fonts/Merriweather-boldItalic.fntdata"/><Relationship Id="rId15" Type="http://schemas.openxmlformats.org/officeDocument/2006/relationships/slide" Target="slides/slide9.xml"/><Relationship Id="rId37" Type="http://schemas.openxmlformats.org/officeDocument/2006/relationships/font" Target="fonts/PublicSansLight-italic.fntdata"/><Relationship Id="rId14" Type="http://schemas.openxmlformats.org/officeDocument/2006/relationships/slide" Target="slides/slide8.xml"/><Relationship Id="rId36" Type="http://schemas.openxmlformats.org/officeDocument/2006/relationships/font" Target="fonts/PublicSansLight-bold.fntdata"/><Relationship Id="rId17" Type="http://schemas.openxmlformats.org/officeDocument/2006/relationships/slide" Target="slides/slide11.xml"/><Relationship Id="rId39" Type="http://schemas.openxmlformats.org/officeDocument/2006/relationships/font" Target="fonts/PublicSansSemiBold-regular.fntdata"/><Relationship Id="rId16" Type="http://schemas.openxmlformats.org/officeDocument/2006/relationships/slide" Target="slides/slide10.xml"/><Relationship Id="rId38" Type="http://schemas.openxmlformats.org/officeDocument/2006/relationships/font" Target="fonts/PublicSansLight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13.png"/><Relationship Id="rId8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5.png"/><Relationship Id="rId5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9" Type="http://schemas.openxmlformats.org/officeDocument/2006/relationships/image" Target="../media/image23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Relationship Id="rId7" Type="http://schemas.openxmlformats.org/officeDocument/2006/relationships/image" Target="../media/image17.png"/><Relationship Id="rId8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71525" y="1751707"/>
            <a:ext cx="9141142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Reading Minds from Eyes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71525" y="2696475"/>
            <a:ext cx="1045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Public Sans Light"/>
                <a:ea typeface="Public Sans Light"/>
                <a:cs typeface="Public Sans Light"/>
                <a:sym typeface="Public Sans Light"/>
              </a:rPr>
              <a:t>Decoding Cognitive Load with Machine Learning and Oculometric Signal Analysis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71525" y="3896617"/>
            <a:ext cx="6515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59669"/>
                </a:solidFill>
                <a:latin typeface="Public Sans SemiBold"/>
                <a:ea typeface="Public Sans SemiBold"/>
                <a:cs typeface="Public Sans SemiBold"/>
                <a:sym typeface="Public Sans SemiBold"/>
              </a:rPr>
              <a:t>SUPERVISOR: DR. XIAOFU JIN | UNIVERSITY OF STUTTGART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200025" y="9525"/>
            <a:ext cx="119919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Presentation Agenda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9525" y="9525"/>
            <a:ext cx="76200" cy="4953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057275" y="1171575"/>
            <a:ext cx="47529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I. Introduction &amp; Motivation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57275" y="1802010"/>
            <a:ext cx="47529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II. Theoretical Framework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57275" y="2432446"/>
            <a:ext cx="47529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III. Methodology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67500" y="1171575"/>
            <a:ext cx="47529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IV. Feature Engineering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67500" y="1802010"/>
            <a:ext cx="47529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V. Results &amp; Analysis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67500" y="2432446"/>
            <a:ext cx="47529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VI. Conclusion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171575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1104900" y="1445865"/>
            <a:ext cx="47053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Cognitive states in HCI and Collaborative AI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802010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1104900" y="2076301"/>
            <a:ext cx="47053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Intrinsic vs. Extraneous Cognitive Load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432446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1104900" y="2706737"/>
            <a:ext cx="47053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Eye-tracking dataset and signal processing</a:t>
            </a:r>
            <a:endParaRPr/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171575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6715125" y="1445865"/>
            <a:ext cx="47053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Sliding windows and oculometric indicators</a:t>
            </a:r>
            <a:endParaRPr/>
          </a:p>
        </p:txBody>
      </p:sp>
      <p:pic>
        <p:nvPicPr>
          <p:cNvPr descr="image.png" id="110" name="Google Shape;11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02010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6715125" y="2076301"/>
            <a:ext cx="47053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Classification performance and generalizability</a:t>
            </a:r>
            <a:endParaRPr/>
          </a:p>
        </p:txBody>
      </p:sp>
      <p:pic>
        <p:nvPicPr>
          <p:cNvPr descr="image.png" id="112" name="Google Shape;11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32446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6715125" y="2706737"/>
            <a:ext cx="47053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Summary of findings and future implications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/>
          <p:nvPr/>
        </p:nvSpPr>
        <p:spPr>
          <a:xfrm>
            <a:off x="5619750" y="2401341"/>
            <a:ext cx="95250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1680448" y="2820441"/>
            <a:ext cx="8831103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01. Introduction &amp; Motivation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2286000" y="3725316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Public Sans"/>
                <a:ea typeface="Public Sans"/>
                <a:cs typeface="Public Sans"/>
                <a:sym typeface="Public Sans"/>
              </a:rPr>
              <a:t>Why decoding mental effort from eyes is a cornerstone for the next generation of adaptive AI.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171575"/>
            <a:ext cx="5038725" cy="1651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171575"/>
            <a:ext cx="5038725" cy="165154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200025" y="9525"/>
            <a:ext cx="119919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The Challenge of Cognitive Load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9525" y="9525"/>
            <a:ext cx="76200" cy="4953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962025" y="3204120"/>
            <a:ext cx="10458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"Cognitive load reflects the mental effort required to perform a task... identifying different sources is qualitatively different for adaptive support."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771525" y="3204120"/>
            <a:ext cx="38100" cy="54858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1057275" y="1495425"/>
            <a:ext cx="469058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Human-Computer Interaction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057275" y="1714500"/>
            <a:ext cx="44672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Adaptive systems must understand user mental states to prevent cognitive overload. Traditional methods are retrospective and subjective.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667500" y="1495425"/>
            <a:ext cx="469058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Predictive Intelligence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667500" y="1714500"/>
            <a:ext cx="44672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Current research focuses on distinguishing binary levels (Low vs. High). However, interventions require knowing the </a:t>
            </a:r>
            <a:r>
              <a:rPr b="0" i="1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source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 of the load.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200025" y="9525"/>
            <a:ext cx="119919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Decoding Dual Load Types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9525" y="9525"/>
            <a:ext cx="76200" cy="4953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771525" y="1171575"/>
            <a:ext cx="529066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Intrinsic Load (Working Memory)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771525" y="1390650"/>
            <a:ext cx="50387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The inherent difficulty of the task itself. We model this through N-back memory tasks that challenge retention and processing capacity.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771525" y="2404020"/>
            <a:ext cx="529066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Extraneous Load (Visual Attention)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771525" y="2623095"/>
            <a:ext cx="50387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Load imposed by the presentation of information. We model this via visual search tasks requiring sustained attentional shifts.</a:t>
            </a:r>
            <a:endParaRPr/>
          </a:p>
        </p:txBody>
      </p:sp>
      <p:pic>
        <p:nvPicPr>
          <p:cNvPr descr="image.png" id="148" name="Google Shape;148;p17"/>
          <p:cNvPicPr preferRelativeResize="0"/>
          <p:nvPr/>
        </p:nvPicPr>
        <p:blipFill rotWithShape="1">
          <a:blip r:embed="rId4">
            <a:alphaModFix/>
          </a:blip>
          <a:srcRect b="354070" l="55000" r="-55000" t="-354070"/>
          <a:stretch/>
        </p:blipFill>
        <p:spPr>
          <a:xfrm>
            <a:off x="6391275" y="1181100"/>
            <a:ext cx="13149834" cy="103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68225" y="1130454"/>
            <a:ext cx="4643800" cy="35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200025" y="9525"/>
            <a:ext cx="119919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Validating Ocular Measures</a:t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9525" y="9525"/>
            <a:ext cx="76200" cy="4953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1570136" y="1171575"/>
            <a:ext cx="9051577" cy="1280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"Eye-tracking is one of the most reliable physiological indicators of cognitive workload, as confirmed by 579 surveyed HCI studies."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1570136" y="2737395"/>
            <a:ext cx="905157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59669"/>
                </a:solidFill>
                <a:latin typeface="Public Sans"/>
                <a:ea typeface="Public Sans"/>
                <a:cs typeface="Public Sans"/>
                <a:sym typeface="Public Sans"/>
              </a:rPr>
              <a:t>— Kosch et al. (2023)</a:t>
            </a:r>
            <a:endParaRPr/>
          </a:p>
        </p:txBody>
      </p:sp>
      <p:pic>
        <p:nvPicPr>
          <p:cNvPr descr="image.png" id="159" name="Google Shape;1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3783210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1066800" y="4316610"/>
            <a:ext cx="276864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Pupillary Activity</a:t>
            </a:r>
            <a:endParaRPr/>
          </a:p>
        </p:txBody>
      </p:sp>
      <p:pic>
        <p:nvPicPr>
          <p:cNvPr descr="image.png" id="161" name="Google Shape;16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1749" y="3783210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4711749" y="4316610"/>
            <a:ext cx="276864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Saccadic Velocity</a:t>
            </a:r>
            <a:endParaRPr/>
          </a:p>
        </p:txBody>
      </p:sp>
      <p:pic>
        <p:nvPicPr>
          <p:cNvPr descr="image.png" id="163" name="Google Shape;16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56699" y="378321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8356699" y="4316610"/>
            <a:ext cx="276864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Fixation Duration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/>
          <p:nvPr/>
        </p:nvSpPr>
        <p:spPr>
          <a:xfrm>
            <a:off x="5619750" y="2401341"/>
            <a:ext cx="95250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1465421" y="2820441"/>
            <a:ext cx="9261157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02. Data &amp; Feature Engineering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2286000" y="3725316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Public Sans"/>
                <a:ea typeface="Public Sans"/>
                <a:cs typeface="Public Sans"/>
                <a:sym typeface="Public Sans"/>
              </a:rPr>
              <a:t>Transforming raw gaze coordinates into high-dimensional predictive features.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200025" y="9525"/>
            <a:ext cx="119919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The 7-State Cognitive Dataset</a:t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9525" y="9525"/>
            <a:ext cx="76200" cy="4953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0" name="Google Shape;180;p20"/>
          <p:cNvGraphicFramePr/>
          <p:nvPr/>
        </p:nvGraphicFramePr>
        <p:xfrm>
          <a:off x="771525" y="13620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{4A62DEC4-B1E1-4948-97E9-58EC25A0520B}</a:tableStyleId>
              </a:tblPr>
              <a:tblGrid>
                <a:gridCol w="1297775"/>
                <a:gridCol w="2844400"/>
                <a:gridCol w="6506775"/>
              </a:tblGrid>
              <a:tr h="537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Label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Condition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Description / Task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37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Rest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Baseline / No cognitive task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7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WM Level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Working Memory (N-back) - Low Difficulty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37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WM Level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Working Memory (N-back) - Medium Difficulty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7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WM Level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Working Memory (N-back) - High Difficulty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37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VA Level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Visual Attention (Search) - Low Difficulty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7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VA Level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Visual Attention (Search) - Medium Difficulty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37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VA Level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Visual Attention (Search) - High Difficulty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1" name="Google Shape;181;p20"/>
          <p:cNvSpPr/>
          <p:nvPr/>
        </p:nvSpPr>
        <p:spPr>
          <a:xfrm>
            <a:off x="771525" y="2416373"/>
            <a:ext cx="12977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2069306" y="2416373"/>
            <a:ext cx="28444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4913709" y="2416373"/>
            <a:ext cx="65067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771525" y="2955428"/>
            <a:ext cx="12977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2069306" y="2955428"/>
            <a:ext cx="28444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4913709" y="2955428"/>
            <a:ext cx="65067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771525" y="3494484"/>
            <a:ext cx="12977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2069306" y="3494484"/>
            <a:ext cx="28444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4913709" y="3494484"/>
            <a:ext cx="65067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771525" y="4033539"/>
            <a:ext cx="12977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2069306" y="4033539"/>
            <a:ext cx="28444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4913709" y="4033539"/>
            <a:ext cx="65067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771525" y="4572595"/>
            <a:ext cx="12977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2069306" y="4572595"/>
            <a:ext cx="28444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4913709" y="4572595"/>
            <a:ext cx="65067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771525" y="5111650"/>
            <a:ext cx="12977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2069306" y="5111650"/>
            <a:ext cx="28444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4913709" y="5111650"/>
            <a:ext cx="65067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771525" y="5650706"/>
            <a:ext cx="12977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2069306" y="5650706"/>
            <a:ext cx="28444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4913709" y="5650706"/>
            <a:ext cx="65067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200025" y="9525"/>
            <a:ext cx="119919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End-to-End Processing Pipeline</a:t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9525" y="9525"/>
            <a:ext cx="76200" cy="4953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771525" y="2219325"/>
            <a:ext cx="1064895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0" name="Google Shape;21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2875" y="3768030"/>
            <a:ext cx="4286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712957" y="2124075"/>
            <a:ext cx="245983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59669"/>
                </a:solidFill>
                <a:latin typeface="Merriweather"/>
                <a:ea typeface="Merriweather"/>
                <a:cs typeface="Merriweather"/>
                <a:sym typeface="Merriweather"/>
              </a:rPr>
              <a:t>Raw Signal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771525" y="2457450"/>
            <a:ext cx="234270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Pupil diameter and gaze X/Y coordinates.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3481607" y="2124075"/>
            <a:ext cx="245983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59669"/>
                </a:solidFill>
                <a:latin typeface="Merriweather"/>
                <a:ea typeface="Merriweather"/>
                <a:cs typeface="Merriweather"/>
                <a:sym typeface="Merriweather"/>
              </a:rPr>
              <a:t>Windowing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3540174" y="2457450"/>
            <a:ext cx="234270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Sliding window extraction (512 samples/window).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6250256" y="2124075"/>
            <a:ext cx="245983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59669"/>
                </a:solidFill>
                <a:latin typeface="Merriweather"/>
                <a:ea typeface="Merriweather"/>
                <a:cs typeface="Merriweather"/>
                <a:sym typeface="Merriweather"/>
              </a:rPr>
              <a:t>Features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6308824" y="2457450"/>
            <a:ext cx="234270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Extraction of LHIPA, IPAS, and fixation stats.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9018906" y="2124075"/>
            <a:ext cx="245983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59669"/>
                </a:solidFill>
                <a:latin typeface="Merriweather"/>
                <a:ea typeface="Merriweather"/>
                <a:cs typeface="Merriweather"/>
                <a:sym typeface="Merriweather"/>
              </a:rPr>
              <a:t>ML Pipeline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9077473" y="2457450"/>
            <a:ext cx="234270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Training Classifiers (SVM, RF, XGBoost).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171575"/>
            <a:ext cx="3359199" cy="2442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6474" y="1171575"/>
            <a:ext cx="3359199" cy="2442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424" y="1171575"/>
            <a:ext cx="3359199" cy="244212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200025" y="9525"/>
            <a:ext cx="119919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Core Oculometric Indicators</a:t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9525" y="9525"/>
            <a:ext cx="76200" cy="4953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1066800" y="2057400"/>
            <a:ext cx="290708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LHIPA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1066800" y="2495550"/>
            <a:ext cx="276864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Low/High Index of Pupillary Activity. Captures the ratio of slow to fast pupil changes.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4711749" y="2057400"/>
            <a:ext cx="290708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Blink Rate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4711749" y="2495550"/>
            <a:ext cx="276864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Frequency of blinks per window. Lower rates are associated with intense cognitive effort.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8356699" y="2057400"/>
            <a:ext cx="290708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Saccades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8356699" y="2495550"/>
            <a:ext cx="276864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Mean and peak velocity of rapid eye movements between fixation points.</a:t>
            </a:r>
            <a:endParaRPr/>
          </a:p>
        </p:txBody>
      </p:sp>
      <p:pic>
        <p:nvPicPr>
          <p:cNvPr descr="image.png" id="235" name="Google Shape;23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1495425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11749" y="1495425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6699" y="1495425"/>
            <a:ext cx="342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3"/>
          <p:cNvSpPr txBox="1"/>
          <p:nvPr/>
        </p:nvSpPr>
        <p:spPr>
          <a:xfrm>
            <a:off x="200025" y="9525"/>
            <a:ext cx="119919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Exploratory Analysis: Class Balance</a:t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9525" y="9525"/>
            <a:ext cx="76200" cy="4953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 txBox="1"/>
          <p:nvPr/>
        </p:nvSpPr>
        <p:spPr>
          <a:xfrm>
            <a:off x="771525" y="1171575"/>
            <a:ext cx="50387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Our dataset consists of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347,196 windows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. The balance across the 6 load states is nearly perfect (~54k windows each).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1057275" y="2005905"/>
            <a:ext cx="47529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Ensures model isn't biased toward one difficulty level.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1057275" y="2423070"/>
            <a:ext cx="47529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"Rest" state is underrepresented (22.5k), requiring careful metric selection.</a:t>
            </a:r>
            <a:endParaRPr/>
          </a:p>
        </p:txBody>
      </p:sp>
      <p:pic>
        <p:nvPicPr>
          <p:cNvPr descr="image.png" id="248" name="Google Shape;24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00590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42307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3999" y="1171570"/>
            <a:ext cx="5906800" cy="3281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4"/>
          <p:cNvSpPr txBox="1"/>
          <p:nvPr/>
        </p:nvSpPr>
        <p:spPr>
          <a:xfrm>
            <a:off x="962025" y="581025"/>
            <a:ext cx="4590573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Feature Discriminability</a:t>
            </a:r>
            <a:endParaRPr/>
          </a:p>
        </p:txBody>
      </p:sp>
      <p:sp>
        <p:nvSpPr>
          <p:cNvPr id="257" name="Google Shape;257;p24"/>
          <p:cNvSpPr/>
          <p:nvPr/>
        </p:nvSpPr>
        <p:spPr>
          <a:xfrm>
            <a:off x="771525" y="581025"/>
            <a:ext cx="76200" cy="990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 txBox="1"/>
          <p:nvPr/>
        </p:nvSpPr>
        <p:spPr>
          <a:xfrm>
            <a:off x="771525" y="1857375"/>
            <a:ext cx="4562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Analysis via box plots reveals significant shifts in feature medians between "Rest" and "Load" states.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1057275" y="2405955"/>
            <a:ext cx="42767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Pupil Diameter: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 Expands significantly under any cognitive load.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1057275" y="3097410"/>
            <a:ext cx="42767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Saccade Speeds: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 Show higher variance in high-difficulty VA tasks.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1057275" y="3788866"/>
            <a:ext cx="42767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IPAS: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 Clear differentiation for working memory states.</a:t>
            </a:r>
            <a:endParaRPr/>
          </a:p>
        </p:txBody>
      </p:sp>
      <p:pic>
        <p:nvPicPr>
          <p:cNvPr descr="image.png" id="262" name="Google Shape;26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40595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09741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788866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6901" y="287778"/>
            <a:ext cx="6032300" cy="6167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171575"/>
            <a:ext cx="3359199" cy="2716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6474" y="1171575"/>
            <a:ext cx="3359199" cy="2716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424" y="1171575"/>
            <a:ext cx="3359199" cy="271641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5"/>
          <p:cNvSpPr txBox="1"/>
          <p:nvPr/>
        </p:nvSpPr>
        <p:spPr>
          <a:xfrm>
            <a:off x="200025" y="9525"/>
            <a:ext cx="119919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Machine Learning Architecture</a:t>
            </a:r>
            <a:endParaRPr/>
          </a:p>
        </p:txBody>
      </p:sp>
      <p:sp>
        <p:nvSpPr>
          <p:cNvPr id="275" name="Google Shape;275;p25"/>
          <p:cNvSpPr/>
          <p:nvPr/>
        </p:nvSpPr>
        <p:spPr>
          <a:xfrm>
            <a:off x="9525" y="9525"/>
            <a:ext cx="76200" cy="4953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 txBox="1"/>
          <p:nvPr/>
        </p:nvSpPr>
        <p:spPr>
          <a:xfrm>
            <a:off x="1066800" y="2057400"/>
            <a:ext cx="290708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SVM &amp; XGBoost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1066800" y="2495550"/>
            <a:ext cx="276864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Chosen for high-dimensional efficiency. XGBoost handles non-linear relationships in oculometric signals.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4711749" y="2057400"/>
            <a:ext cx="290708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Random Forest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4711749" y="2495550"/>
            <a:ext cx="276864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Ensemble method providing robustness against outliers in blink rate and gaze jitter.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8356699" y="2057400"/>
            <a:ext cx="290708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Standardization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8356699" y="2495550"/>
            <a:ext cx="276864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StandardScaler applied to all features to ensure distance-based models (KNN) are not skewed.</a:t>
            </a:r>
            <a:endParaRPr/>
          </a:p>
        </p:txBody>
      </p:sp>
      <p:pic>
        <p:nvPicPr>
          <p:cNvPr descr="image.png" id="282" name="Google Shape;282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14954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11749" y="1495425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6699" y="1495425"/>
            <a:ext cx="42862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171575"/>
            <a:ext cx="5038725" cy="17467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171575"/>
            <a:ext cx="5038725" cy="174679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6"/>
          <p:cNvSpPr txBox="1"/>
          <p:nvPr/>
        </p:nvSpPr>
        <p:spPr>
          <a:xfrm>
            <a:off x="200025" y="9525"/>
            <a:ext cx="119919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Evaluating Generalizability</a:t>
            </a:r>
            <a:endParaRPr/>
          </a:p>
        </p:txBody>
      </p:sp>
      <p:sp>
        <p:nvSpPr>
          <p:cNvPr id="293" name="Google Shape;293;p26"/>
          <p:cNvSpPr/>
          <p:nvPr/>
        </p:nvSpPr>
        <p:spPr>
          <a:xfrm>
            <a:off x="9525" y="9525"/>
            <a:ext cx="76200" cy="4953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6"/>
          <p:cNvSpPr txBox="1"/>
          <p:nvPr/>
        </p:nvSpPr>
        <p:spPr>
          <a:xfrm>
            <a:off x="1057275" y="1495425"/>
            <a:ext cx="469058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Time-Based Split</a:t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1057275" y="1714500"/>
            <a:ext cx="44672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Chronological 80/20 split. Tests if the model can predict later recordings of </a:t>
            </a:r>
            <a:r>
              <a:rPr b="0" i="1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known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 participants.</a:t>
            </a:r>
            <a:endParaRPr/>
          </a:p>
        </p:txBody>
      </p:sp>
      <p:sp>
        <p:nvSpPr>
          <p:cNvPr id="296" name="Google Shape;296;p26"/>
          <p:cNvSpPr txBox="1"/>
          <p:nvPr/>
        </p:nvSpPr>
        <p:spPr>
          <a:xfrm>
            <a:off x="1057275" y="2358330"/>
            <a:ext cx="4467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59669"/>
                </a:solidFill>
                <a:latin typeface="Public Sans"/>
                <a:ea typeface="Public Sans"/>
                <a:cs typeface="Public Sans"/>
                <a:sym typeface="Public Sans"/>
              </a:rPr>
              <a:t>Highly optimistic results.</a:t>
            </a:r>
            <a:endParaRPr/>
          </a:p>
        </p:txBody>
      </p:sp>
      <p:sp>
        <p:nvSpPr>
          <p:cNvPr id="297" name="Google Shape;297;p26"/>
          <p:cNvSpPr txBox="1"/>
          <p:nvPr/>
        </p:nvSpPr>
        <p:spPr>
          <a:xfrm>
            <a:off x="6667500" y="1495425"/>
            <a:ext cx="469058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Participant-Level Split</a:t>
            </a:r>
            <a:endParaRPr/>
          </a:p>
        </p:txBody>
      </p:sp>
      <p:sp>
        <p:nvSpPr>
          <p:cNvPr id="298" name="Google Shape;298;p26"/>
          <p:cNvSpPr txBox="1"/>
          <p:nvPr/>
        </p:nvSpPr>
        <p:spPr>
          <a:xfrm>
            <a:off x="6667500" y="1714500"/>
            <a:ext cx="44672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4 random test participants, 17 training participants. Tests if the model can generalize to </a:t>
            </a:r>
            <a:r>
              <a:rPr b="0" i="1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unknown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 individuals.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6667463" y="2632630"/>
            <a:ext cx="4467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4444"/>
                </a:solidFill>
                <a:latin typeface="Public Sans"/>
                <a:ea typeface="Public Sans"/>
                <a:cs typeface="Public Sans"/>
                <a:sym typeface="Public Sans"/>
              </a:rPr>
              <a:t>Realistic, hard evaluation.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7"/>
          <p:cNvSpPr txBox="1"/>
          <p:nvPr/>
        </p:nvSpPr>
        <p:spPr>
          <a:xfrm>
            <a:off x="200025" y="9525"/>
            <a:ext cx="119919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Task 1: Rest vs Load Baseline</a:t>
            </a:r>
            <a:endParaRPr/>
          </a:p>
        </p:txBody>
      </p:sp>
      <p:sp>
        <p:nvSpPr>
          <p:cNvPr id="306" name="Google Shape;306;p27"/>
          <p:cNvSpPr/>
          <p:nvPr/>
        </p:nvSpPr>
        <p:spPr>
          <a:xfrm>
            <a:off x="9525" y="9525"/>
            <a:ext cx="76200" cy="4953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7"/>
          <p:cNvSpPr txBox="1"/>
          <p:nvPr/>
        </p:nvSpPr>
        <p:spPr>
          <a:xfrm>
            <a:off x="6381750" y="1171575"/>
            <a:ext cx="529066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Near-Perfect Detection</a:t>
            </a:r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6381750" y="1390650"/>
            <a:ext cx="50387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In a global time-based split, all models achieve &gt;98% accuracy in detecting "any load" vs. "rest".</a:t>
            </a:r>
            <a:endParaRPr/>
          </a:p>
        </p:txBody>
      </p:sp>
      <p:sp>
        <p:nvSpPr>
          <p:cNvPr id="309" name="Google Shape;309;p27"/>
          <p:cNvSpPr txBox="1"/>
          <p:nvPr/>
        </p:nvSpPr>
        <p:spPr>
          <a:xfrm>
            <a:off x="6381750" y="3011685"/>
            <a:ext cx="50387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Conclusion: Detecting mental engagement from eye states is a solvable problem for modern ML.</a:t>
            </a:r>
            <a:endParaRPr/>
          </a:p>
        </p:txBody>
      </p:sp>
      <p:sp>
        <p:nvSpPr>
          <p:cNvPr id="310" name="Google Shape;310;p27"/>
          <p:cNvSpPr txBox="1"/>
          <p:nvPr/>
        </p:nvSpPr>
        <p:spPr>
          <a:xfrm>
            <a:off x="6667500" y="2129730"/>
            <a:ext cx="47529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SVM: 99.4% Acc</a:t>
            </a:r>
            <a:endParaRPr/>
          </a:p>
        </p:txBody>
      </p:sp>
      <p:sp>
        <p:nvSpPr>
          <p:cNvPr id="311" name="Google Shape;311;p27"/>
          <p:cNvSpPr txBox="1"/>
          <p:nvPr/>
        </p:nvSpPr>
        <p:spPr>
          <a:xfrm>
            <a:off x="6667500" y="2546895"/>
            <a:ext cx="47529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XGBoost: 98.6% Acc</a:t>
            </a:r>
            <a:endParaRPr/>
          </a:p>
        </p:txBody>
      </p:sp>
      <p:pic>
        <p:nvPicPr>
          <p:cNvPr descr="image.png" id="312" name="Google Shape;31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2973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54689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234" y="1171575"/>
            <a:ext cx="5606945" cy="5467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9" name="Google Shape;31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8"/>
          <p:cNvSpPr txBox="1"/>
          <p:nvPr/>
        </p:nvSpPr>
        <p:spPr>
          <a:xfrm>
            <a:off x="200025" y="9525"/>
            <a:ext cx="119919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Task 2: WM vs VA Classification</a:t>
            </a:r>
            <a:endParaRPr/>
          </a:p>
        </p:txBody>
      </p:sp>
      <p:sp>
        <p:nvSpPr>
          <p:cNvPr id="321" name="Google Shape;321;p28"/>
          <p:cNvSpPr/>
          <p:nvPr/>
        </p:nvSpPr>
        <p:spPr>
          <a:xfrm>
            <a:off x="9525" y="9525"/>
            <a:ext cx="76200" cy="4953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8"/>
          <p:cNvSpPr txBox="1"/>
          <p:nvPr/>
        </p:nvSpPr>
        <p:spPr>
          <a:xfrm>
            <a:off x="6381750" y="1171575"/>
            <a:ext cx="529066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Distinguishing Task Type</a:t>
            </a:r>
            <a:endParaRPr/>
          </a:p>
        </p:txBody>
      </p:sp>
      <p:sp>
        <p:nvSpPr>
          <p:cNvPr id="323" name="Google Shape;323;p28"/>
          <p:cNvSpPr txBox="1"/>
          <p:nvPr/>
        </p:nvSpPr>
        <p:spPr>
          <a:xfrm>
            <a:off x="6381750" y="1390650"/>
            <a:ext cx="50387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Differentiating between Working Memory and Visual Attention is a more nuanced challenge.</a:t>
            </a:r>
            <a:endParaRPr/>
          </a:p>
        </p:txBody>
      </p:sp>
      <p:sp>
        <p:nvSpPr>
          <p:cNvPr id="324" name="Google Shape;324;p28"/>
          <p:cNvSpPr txBox="1"/>
          <p:nvPr/>
        </p:nvSpPr>
        <p:spPr>
          <a:xfrm>
            <a:off x="6381750" y="2964060"/>
            <a:ext cx="50387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59669"/>
                </a:solidFill>
                <a:latin typeface="Public Sans"/>
                <a:ea typeface="Public Sans"/>
                <a:cs typeface="Public Sans"/>
                <a:sym typeface="Public Sans"/>
              </a:rPr>
              <a:t>Significantly beats Jin et al. (2025) baseline of 62.3%.</a:t>
            </a:r>
            <a:endParaRPr/>
          </a:p>
        </p:txBody>
      </p:sp>
      <p:sp>
        <p:nvSpPr>
          <p:cNvPr id="325" name="Google Shape;325;p28"/>
          <p:cNvSpPr txBox="1"/>
          <p:nvPr/>
        </p:nvSpPr>
        <p:spPr>
          <a:xfrm>
            <a:off x="6667500" y="2129730"/>
            <a:ext cx="47529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Random Forest: 87.0% Acc</a:t>
            </a:r>
            <a:endParaRPr/>
          </a:p>
        </p:txBody>
      </p:sp>
      <p:sp>
        <p:nvSpPr>
          <p:cNvPr id="326" name="Google Shape;326;p28"/>
          <p:cNvSpPr txBox="1"/>
          <p:nvPr/>
        </p:nvSpPr>
        <p:spPr>
          <a:xfrm>
            <a:off x="6667500" y="2546895"/>
            <a:ext cx="47529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SVM: 85.5% Acc</a:t>
            </a:r>
            <a:endParaRPr/>
          </a:p>
        </p:txBody>
      </p:sp>
      <p:pic>
        <p:nvPicPr>
          <p:cNvPr descr="image.png" id="327" name="Google Shape;32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2973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54689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300" y="1171575"/>
            <a:ext cx="5290650" cy="5200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9"/>
          <p:cNvSpPr txBox="1"/>
          <p:nvPr/>
        </p:nvSpPr>
        <p:spPr>
          <a:xfrm>
            <a:off x="200025" y="9525"/>
            <a:ext cx="119919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Cross-Subject Performance</a:t>
            </a:r>
            <a:endParaRPr/>
          </a:p>
        </p:txBody>
      </p:sp>
      <p:sp>
        <p:nvSpPr>
          <p:cNvPr id="335" name="Google Shape;335;p29"/>
          <p:cNvSpPr/>
          <p:nvPr/>
        </p:nvSpPr>
        <p:spPr>
          <a:xfrm>
            <a:off x="9525" y="9525"/>
            <a:ext cx="76200" cy="4953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9"/>
          <p:cNvSpPr txBox="1"/>
          <p:nvPr/>
        </p:nvSpPr>
        <p:spPr>
          <a:xfrm>
            <a:off x="709025" y="765400"/>
            <a:ext cx="529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The Cost of Generalization</a:t>
            </a:r>
            <a:endParaRPr/>
          </a:p>
        </p:txBody>
      </p:sp>
      <p:sp>
        <p:nvSpPr>
          <p:cNvPr id="337" name="Google Shape;337;p29"/>
          <p:cNvSpPr txBox="1"/>
          <p:nvPr/>
        </p:nvSpPr>
        <p:spPr>
          <a:xfrm>
            <a:off x="709025" y="1090613"/>
            <a:ext cx="50388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When evaluated on </a:t>
            </a:r>
            <a:r>
              <a:rPr b="0" i="1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new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 participants, performance drops as the model must overcome individual physiological variances.</a:t>
            </a:r>
            <a:endParaRPr/>
          </a:p>
        </p:txBody>
      </p:sp>
      <p:sp>
        <p:nvSpPr>
          <p:cNvPr id="338" name="Google Shape;338;p29"/>
          <p:cNvSpPr txBox="1"/>
          <p:nvPr/>
        </p:nvSpPr>
        <p:spPr>
          <a:xfrm>
            <a:off x="6837375" y="981405"/>
            <a:ext cx="475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Drop in WM vs VA: ~10-15%</a:t>
            </a:r>
            <a:endParaRPr/>
          </a:p>
        </p:txBody>
      </p:sp>
      <p:sp>
        <p:nvSpPr>
          <p:cNvPr id="339" name="Google Shape;339;p29"/>
          <p:cNvSpPr txBox="1"/>
          <p:nvPr/>
        </p:nvSpPr>
        <p:spPr>
          <a:xfrm>
            <a:off x="6837375" y="1398570"/>
            <a:ext cx="4752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SVM holds best stability at 75% accuracy.</a:t>
            </a:r>
            <a:endParaRPr/>
          </a:p>
        </p:txBody>
      </p:sp>
      <p:pic>
        <p:nvPicPr>
          <p:cNvPr descr="image.png" id="340" name="Google Shape;34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1625" y="98140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1625" y="139857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5361" y="2076148"/>
            <a:ext cx="4406123" cy="4296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51625" y="2076138"/>
            <a:ext cx="4406125" cy="4331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8" name="Google Shape;34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0"/>
          <p:cNvSpPr txBox="1"/>
          <p:nvPr/>
        </p:nvSpPr>
        <p:spPr>
          <a:xfrm>
            <a:off x="200025" y="9525"/>
            <a:ext cx="119919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Model Benchmarking Summary</a:t>
            </a:r>
            <a:endParaRPr/>
          </a:p>
        </p:txBody>
      </p:sp>
      <p:sp>
        <p:nvSpPr>
          <p:cNvPr id="350" name="Google Shape;350;p30"/>
          <p:cNvSpPr/>
          <p:nvPr/>
        </p:nvSpPr>
        <p:spPr>
          <a:xfrm>
            <a:off x="9525" y="9525"/>
            <a:ext cx="76200" cy="4953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1" name="Google Shape;351;p30"/>
          <p:cNvGraphicFramePr/>
          <p:nvPr/>
        </p:nvGraphicFramePr>
        <p:xfrm>
          <a:off x="771525" y="13620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{4A62DEC4-B1E1-4948-97E9-58EC25A0520B}</a:tableStyleId>
              </a:tblPr>
              <a:tblGrid>
                <a:gridCol w="2942925"/>
                <a:gridCol w="1897400"/>
                <a:gridCol w="1606900"/>
                <a:gridCol w="1839225"/>
                <a:gridCol w="2362500"/>
              </a:tblGrid>
              <a:tr h="536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Split Strategy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SVM Acc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RF Acc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XGB Acc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Benchmark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36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Global 80/20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85.5%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87.0%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84.5%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-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6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Jin et al. Split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71.2%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79.4%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80.4%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62.3%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36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Participant Split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75.0%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71.7%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70.0%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-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352" name="Google Shape;35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794521"/>
            <a:ext cx="10648950" cy="85338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0"/>
          <p:cNvSpPr/>
          <p:nvPr/>
        </p:nvSpPr>
        <p:spPr>
          <a:xfrm>
            <a:off x="771525" y="2416373"/>
            <a:ext cx="29429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0"/>
          <p:cNvSpPr/>
          <p:nvPr/>
        </p:nvSpPr>
        <p:spPr>
          <a:xfrm>
            <a:off x="3714452" y="2416373"/>
            <a:ext cx="18974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0"/>
          <p:cNvSpPr/>
          <p:nvPr/>
        </p:nvSpPr>
        <p:spPr>
          <a:xfrm>
            <a:off x="5611862" y="2416373"/>
            <a:ext cx="16068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0"/>
          <p:cNvSpPr/>
          <p:nvPr/>
        </p:nvSpPr>
        <p:spPr>
          <a:xfrm>
            <a:off x="7218759" y="2416373"/>
            <a:ext cx="18392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0"/>
          <p:cNvSpPr/>
          <p:nvPr/>
        </p:nvSpPr>
        <p:spPr>
          <a:xfrm>
            <a:off x="9057977" y="2416373"/>
            <a:ext cx="23624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0"/>
          <p:cNvSpPr/>
          <p:nvPr/>
        </p:nvSpPr>
        <p:spPr>
          <a:xfrm>
            <a:off x="771525" y="2955428"/>
            <a:ext cx="29429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0"/>
          <p:cNvSpPr/>
          <p:nvPr/>
        </p:nvSpPr>
        <p:spPr>
          <a:xfrm>
            <a:off x="3714452" y="2955428"/>
            <a:ext cx="18974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5611862" y="2955428"/>
            <a:ext cx="16068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0"/>
          <p:cNvSpPr/>
          <p:nvPr/>
        </p:nvSpPr>
        <p:spPr>
          <a:xfrm>
            <a:off x="7218759" y="2955428"/>
            <a:ext cx="18392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0"/>
          <p:cNvSpPr/>
          <p:nvPr/>
        </p:nvSpPr>
        <p:spPr>
          <a:xfrm>
            <a:off x="9057977" y="2955428"/>
            <a:ext cx="23624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0"/>
          <p:cNvSpPr/>
          <p:nvPr/>
        </p:nvSpPr>
        <p:spPr>
          <a:xfrm>
            <a:off x="771525" y="3494484"/>
            <a:ext cx="29429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0"/>
          <p:cNvSpPr/>
          <p:nvPr/>
        </p:nvSpPr>
        <p:spPr>
          <a:xfrm>
            <a:off x="3714452" y="3494484"/>
            <a:ext cx="18974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0"/>
          <p:cNvSpPr/>
          <p:nvPr/>
        </p:nvSpPr>
        <p:spPr>
          <a:xfrm>
            <a:off x="5611862" y="3494484"/>
            <a:ext cx="16068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0"/>
          <p:cNvSpPr/>
          <p:nvPr/>
        </p:nvSpPr>
        <p:spPr>
          <a:xfrm>
            <a:off x="7218759" y="3494484"/>
            <a:ext cx="18392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0"/>
          <p:cNvSpPr/>
          <p:nvPr/>
        </p:nvSpPr>
        <p:spPr>
          <a:xfrm>
            <a:off x="9057977" y="3494484"/>
            <a:ext cx="23624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2" name="Google Shape;37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1"/>
          <p:cNvSpPr txBox="1"/>
          <p:nvPr/>
        </p:nvSpPr>
        <p:spPr>
          <a:xfrm>
            <a:off x="200025" y="9525"/>
            <a:ext cx="119919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 &amp; Questions</a:t>
            </a:r>
            <a:endParaRPr/>
          </a:p>
        </p:txBody>
      </p:sp>
      <p:sp>
        <p:nvSpPr>
          <p:cNvPr id="374" name="Google Shape;374;p31"/>
          <p:cNvSpPr/>
          <p:nvPr/>
        </p:nvSpPr>
        <p:spPr>
          <a:xfrm>
            <a:off x="9525" y="9525"/>
            <a:ext cx="76200" cy="4953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771525" y="1171575"/>
            <a:ext cx="503872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059669"/>
                </a:solidFill>
                <a:latin typeface="Merriweather"/>
                <a:ea typeface="Merriweather"/>
                <a:cs typeface="Merriweather"/>
                <a:sym typeface="Merriweather"/>
              </a:rPr>
              <a:t>75%</a:t>
            </a:r>
            <a:endParaRPr/>
          </a:p>
        </p:txBody>
      </p:sp>
      <p:sp>
        <p:nvSpPr>
          <p:cNvPr id="376" name="Google Shape;376;p31"/>
          <p:cNvSpPr txBox="1"/>
          <p:nvPr/>
        </p:nvSpPr>
        <p:spPr>
          <a:xfrm>
            <a:off x="771525" y="2600325"/>
            <a:ext cx="50387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Cross-Subject Accuracy</a:t>
            </a:r>
            <a:endParaRPr/>
          </a:p>
        </p:txBody>
      </p:sp>
      <p:sp>
        <p:nvSpPr>
          <p:cNvPr id="377" name="Google Shape;377;p31"/>
          <p:cNvSpPr txBox="1"/>
          <p:nvPr/>
        </p:nvSpPr>
        <p:spPr>
          <a:xfrm>
            <a:off x="771525" y="3057525"/>
            <a:ext cx="50387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Reliable decoding of cognitive type is feasible even for users unseen by the model.</a:t>
            </a:r>
            <a:endParaRPr/>
          </a:p>
        </p:txBody>
      </p:sp>
      <p:sp>
        <p:nvSpPr>
          <p:cNvPr id="378" name="Google Shape;378;p31"/>
          <p:cNvSpPr txBox="1"/>
          <p:nvPr/>
        </p:nvSpPr>
        <p:spPr>
          <a:xfrm>
            <a:off x="6381750" y="1171575"/>
            <a:ext cx="529066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Summary</a:t>
            </a:r>
            <a:endParaRPr/>
          </a:p>
        </p:txBody>
      </p:sp>
      <p:sp>
        <p:nvSpPr>
          <p:cNvPr id="379" name="Google Shape;379;p31"/>
          <p:cNvSpPr txBox="1"/>
          <p:nvPr/>
        </p:nvSpPr>
        <p:spPr>
          <a:xfrm>
            <a:off x="6667500" y="1390650"/>
            <a:ext cx="47529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Oculometric signals (LHIPA, IPAS) are strong predictors.</a:t>
            </a:r>
            <a:endParaRPr/>
          </a:p>
        </p:txBody>
      </p:sp>
      <p:sp>
        <p:nvSpPr>
          <p:cNvPr id="380" name="Google Shape;380;p31"/>
          <p:cNvSpPr txBox="1"/>
          <p:nvPr/>
        </p:nvSpPr>
        <p:spPr>
          <a:xfrm>
            <a:off x="6667500" y="1807815"/>
            <a:ext cx="47529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Participant-level splits are essential for realistic HCI.</a:t>
            </a:r>
            <a:endParaRPr/>
          </a:p>
        </p:txBody>
      </p:sp>
      <p:sp>
        <p:nvSpPr>
          <p:cNvPr id="381" name="Google Shape;381;p31"/>
          <p:cNvSpPr txBox="1"/>
          <p:nvPr/>
        </p:nvSpPr>
        <p:spPr>
          <a:xfrm>
            <a:off x="6667500" y="2224980"/>
            <a:ext cx="47529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Future Work: Real-time adaptive UI intervention based on these models.</a:t>
            </a:r>
            <a:endParaRPr/>
          </a:p>
        </p:txBody>
      </p:sp>
      <p:pic>
        <p:nvPicPr>
          <p:cNvPr descr="image.png" id="382" name="Google Shape;38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39065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0781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4" name="Google Shape;38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24980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9" name="Google Shape;38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2"/>
          <p:cNvSpPr txBox="1"/>
          <p:nvPr/>
        </p:nvSpPr>
        <p:spPr>
          <a:xfrm>
            <a:off x="200025" y="9525"/>
            <a:ext cx="119919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References</a:t>
            </a:r>
            <a:endParaRPr/>
          </a:p>
        </p:txBody>
      </p:sp>
      <p:sp>
        <p:nvSpPr>
          <p:cNvPr id="391" name="Google Shape;391;p32"/>
          <p:cNvSpPr/>
          <p:nvPr/>
        </p:nvSpPr>
        <p:spPr>
          <a:xfrm>
            <a:off x="9525" y="9525"/>
            <a:ext cx="76200" cy="4953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2"/>
          <p:cNvSpPr txBox="1"/>
          <p:nvPr/>
        </p:nvSpPr>
        <p:spPr>
          <a:xfrm>
            <a:off x="1057275" y="1171575"/>
            <a:ext cx="10363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[KKZ+23]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 Kosch et al. "A survey on measuring cognitive workload in HCI." </a:t>
            </a:r>
            <a:r>
              <a:rPr b="0" i="1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ACM Computing Surveys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, 2023.</a:t>
            </a:r>
            <a:endParaRPr/>
          </a:p>
        </p:txBody>
      </p:sp>
      <p:sp>
        <p:nvSpPr>
          <p:cNvPr id="393" name="Google Shape;393;p32"/>
          <p:cNvSpPr txBox="1"/>
          <p:nvPr/>
        </p:nvSpPr>
        <p:spPr>
          <a:xfrm>
            <a:off x="1057275" y="1588740"/>
            <a:ext cx="103632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[EKD+25]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 Ekin et al. "Prediction of Intrinsic and Extraneous Cognitive Load with Oculometric and Biometric Indicators." </a:t>
            </a:r>
            <a:r>
              <a:rPr b="0" i="1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Scientific Reports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, 2025.</a:t>
            </a:r>
            <a:endParaRPr/>
          </a:p>
        </p:txBody>
      </p:sp>
      <p:sp>
        <p:nvSpPr>
          <p:cNvPr id="394" name="Google Shape;394;p32"/>
          <p:cNvSpPr txBox="1"/>
          <p:nvPr/>
        </p:nvSpPr>
        <p:spPr>
          <a:xfrm>
            <a:off x="1057275" y="2280195"/>
            <a:ext cx="10363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[JBX+25]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 Jin et al. "Decoding Cognitive Load: Eye-Tracking Insights into Working Memory and Visual Attention." </a:t>
            </a:r>
            <a:r>
              <a:rPr b="0" i="1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ETRA '25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, 2025.</a:t>
            </a:r>
            <a:endParaRPr/>
          </a:p>
        </p:txBody>
      </p:sp>
      <p:sp>
        <p:nvSpPr>
          <p:cNvPr id="395" name="Google Shape;395;p32"/>
          <p:cNvSpPr txBox="1"/>
          <p:nvPr/>
        </p:nvSpPr>
        <p:spPr>
          <a:xfrm>
            <a:off x="1057275" y="2697360"/>
            <a:ext cx="10363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[MEVS26]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 Molloy et al. "Machine Learning Methods for Cognitive Load Analysis and Classification in Aviation." </a:t>
            </a:r>
            <a:r>
              <a:rPr b="0" i="1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IJHCI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ublic Sans"/>
                <a:ea typeface="Public Sans"/>
                <a:cs typeface="Public Sans"/>
                <a:sym typeface="Public Sans"/>
              </a:rPr>
              <a:t>, 2026.</a:t>
            </a:r>
            <a:endParaRPr/>
          </a:p>
        </p:txBody>
      </p:sp>
      <p:pic>
        <p:nvPicPr>
          <p:cNvPr descr="image.png" id="396" name="Google Shape;39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17157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7" name="Google Shape;39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58874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8" name="Google Shape;39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28019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697360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